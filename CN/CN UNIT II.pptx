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6" r:id="rId20"/>
    <p:sldId id="277" r:id="rId21"/>
    <p:sldId id="278" r:id="rId22"/>
    <p:sldId id="279" r:id="rId23"/>
    <p:sldId id="280" r:id="rId24"/>
    <p:sldId id="281" r:id="rId25"/>
    <p:sldId id="282" r:id="rId26"/>
    <p:sldId id="283" r:id="rId27"/>
    <p:sldId id="285" r:id="rId28"/>
    <p:sldId id="286" r:id="rId29"/>
    <p:sldId id="288" r:id="rId30"/>
    <p:sldId id="289" r:id="rId31"/>
    <p:sldId id="290"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44"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28-Jul-25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28-Jul-25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28-Jul-25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28-Jul-25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28-Jul-25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28-Jul-25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28-Jul-25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28-Jul-25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28-Jul-25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28-Jul-25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28-Jul-25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28-Jul-25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143000"/>
            <a:ext cx="7772400" cy="1470025"/>
          </a:xfrm>
          <a:solidFill>
            <a:schemeClr val="accent2"/>
          </a:solidFill>
        </p:spPr>
        <p:txBody>
          <a:bodyPr/>
          <a:lstStyle/>
          <a:p>
            <a:r>
              <a:rPr lang="en-US" dirty="0" smtClean="0"/>
              <a:t>CN </a:t>
            </a:r>
            <a:endParaRPr lang="en-US" dirty="0"/>
          </a:p>
        </p:txBody>
      </p:sp>
      <p:sp>
        <p:nvSpPr>
          <p:cNvPr id="3" name="Subtitle 2"/>
          <p:cNvSpPr>
            <a:spLocks noGrp="1"/>
          </p:cNvSpPr>
          <p:nvPr>
            <p:ph type="subTitle" idx="1"/>
          </p:nvPr>
        </p:nvSpPr>
        <p:spPr>
          <a:xfrm>
            <a:off x="1371600" y="3352800"/>
            <a:ext cx="6400800" cy="2286000"/>
          </a:xfrm>
        </p:spPr>
        <p:txBody>
          <a:bodyPr>
            <a:normAutofit/>
          </a:bodyPr>
          <a:lstStyle/>
          <a:p>
            <a:r>
              <a:rPr lang="en-US" sz="4000" dirty="0" smtClean="0">
                <a:solidFill>
                  <a:srgbClr val="FF0000"/>
                </a:solidFill>
                <a:latin typeface="Times New Roman" pitchFamily="18" charset="0"/>
                <a:cs typeface="Times New Roman" pitchFamily="18" charset="0"/>
              </a:rPr>
              <a:t>UNIT II</a:t>
            </a:r>
            <a:endParaRPr lang="en-US" sz="4000" dirty="0">
              <a:solidFill>
                <a:srgbClr val="FF0000"/>
              </a:solidFill>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a:bodyPr>
          <a:lstStyle/>
          <a:p>
            <a:r>
              <a:rPr lang="en-US" sz="2400" b="1" dirty="0" smtClean="0">
                <a:solidFill>
                  <a:srgbClr val="FF0000"/>
                </a:solidFill>
                <a:latin typeface="Times New Roman" pitchFamily="18" charset="0"/>
                <a:cs typeface="Times New Roman" pitchFamily="18" charset="0"/>
              </a:rPr>
              <a:t>THE DATA LINK LAYER DESIGN ISSUES</a:t>
            </a:r>
            <a:endParaRPr lang="en-US" sz="4800" b="1" dirty="0" smtClean="0">
              <a:solidFill>
                <a:srgbClr val="FF0000"/>
              </a:solidFill>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FUNCTIONS</a:t>
            </a:r>
            <a:endParaRPr lang="en-US" sz="2800" dirty="0" smtClean="0">
              <a:latin typeface="Times New Roman" pitchFamily="18" charset="0"/>
              <a:cs typeface="Times New Roman" pitchFamily="18" charset="0"/>
            </a:endParaRPr>
          </a:p>
          <a:p>
            <a:pPr lvl="2"/>
            <a:r>
              <a:rPr lang="en-US" dirty="0" smtClean="0">
                <a:latin typeface="Times New Roman" pitchFamily="18" charset="0"/>
                <a:cs typeface="Times New Roman" pitchFamily="18" charset="0"/>
              </a:rPr>
              <a:t>Providing a well-defined service interface to the network layer.</a:t>
            </a:r>
          </a:p>
          <a:p>
            <a:pPr lvl="2"/>
            <a:r>
              <a:rPr lang="en-US" dirty="0" smtClean="0">
                <a:latin typeface="Times New Roman" pitchFamily="18" charset="0"/>
                <a:cs typeface="Times New Roman" pitchFamily="18" charset="0"/>
              </a:rPr>
              <a:t>Dealing with transmission errors.</a:t>
            </a:r>
          </a:p>
          <a:p>
            <a:pPr lvl="2"/>
            <a:r>
              <a:rPr lang="en-US" dirty="0" smtClean="0">
                <a:latin typeface="Times New Roman" pitchFamily="18" charset="0"/>
                <a:cs typeface="Times New Roman" pitchFamily="18" charset="0"/>
              </a:rPr>
              <a:t>Regulating the flow of data so that slow receivers are not swamped by fast senders –flow control</a:t>
            </a:r>
            <a:r>
              <a:rPr lang="en-US" dirty="0" smtClean="0">
                <a:latin typeface="Times New Roman" pitchFamily="18" charset="0"/>
                <a:cs typeface="Times New Roman" pitchFamily="18" charset="0"/>
              </a:rPr>
              <a:t>.</a:t>
            </a:r>
          </a:p>
          <a:p>
            <a:pPr>
              <a:buNone/>
            </a:pPr>
            <a:r>
              <a:rPr lang="en-US" sz="2000" dirty="0" smtClean="0">
                <a:latin typeface="Times New Roman" pitchFamily="18" charset="0"/>
                <a:cs typeface="Times New Roman" pitchFamily="18" charset="0"/>
              </a:rPr>
              <a:t>	</a:t>
            </a:r>
          </a:p>
          <a:p>
            <a:pPr>
              <a:buNone/>
            </a:pPr>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The </a:t>
            </a:r>
            <a:r>
              <a:rPr lang="en-US" sz="2000" dirty="0" smtClean="0">
                <a:latin typeface="Times New Roman" pitchFamily="18" charset="0"/>
                <a:cs typeface="Times New Roman" pitchFamily="18" charset="0"/>
              </a:rPr>
              <a:t>two main functions of the data link layer are</a:t>
            </a:r>
            <a:r>
              <a:rPr lang="en-US" sz="2000" dirty="0" smtClean="0">
                <a:latin typeface="Times New Roman" pitchFamily="18" charset="0"/>
                <a:cs typeface="Times New Roman" pitchFamily="18" charset="0"/>
              </a:rPr>
              <a:t>:</a:t>
            </a:r>
            <a:endParaRPr lang="en-US" sz="2800" dirty="0" smtClean="0">
              <a:latin typeface="Times New Roman" pitchFamily="18" charset="0"/>
              <a:cs typeface="Times New Roman" pitchFamily="18" charset="0"/>
            </a:endParaRPr>
          </a:p>
          <a:p>
            <a:pPr lvl="0"/>
            <a:r>
              <a:rPr lang="en-US" sz="2000" b="1" dirty="0" smtClean="0">
                <a:latin typeface="Times New Roman" pitchFamily="18" charset="0"/>
                <a:cs typeface="Times New Roman" pitchFamily="18" charset="0"/>
              </a:rPr>
              <a:t>Data Link Control (DLC)</a:t>
            </a:r>
            <a:r>
              <a:rPr lang="en-US" sz="2000" dirty="0" smtClean="0">
                <a:latin typeface="Times New Roman" pitchFamily="18" charset="0"/>
                <a:cs typeface="Times New Roman" pitchFamily="18" charset="0"/>
              </a:rPr>
              <a:t>: It deals with the design and procedures for communication b/w nodes: node-to-node communication</a:t>
            </a:r>
            <a:r>
              <a:rPr lang="en-US" sz="2000" dirty="0" smtClean="0">
                <a:latin typeface="Times New Roman" pitchFamily="18" charset="0"/>
                <a:cs typeface="Times New Roman" pitchFamily="18" charset="0"/>
              </a:rPr>
              <a:t>.</a:t>
            </a:r>
            <a:endParaRPr lang="en-US" sz="2800" dirty="0" smtClean="0">
              <a:latin typeface="Times New Roman" pitchFamily="18" charset="0"/>
              <a:cs typeface="Times New Roman" pitchFamily="18" charset="0"/>
            </a:endParaRPr>
          </a:p>
          <a:p>
            <a:pPr lvl="0"/>
            <a:r>
              <a:rPr lang="en-US" sz="2000" b="1" dirty="0" smtClean="0">
                <a:latin typeface="Times New Roman" pitchFamily="18" charset="0"/>
                <a:cs typeface="Times New Roman" pitchFamily="18" charset="0"/>
              </a:rPr>
              <a:t>Media Access Control (MAC)</a:t>
            </a:r>
            <a:r>
              <a:rPr lang="en-US" sz="2000" dirty="0" smtClean="0">
                <a:latin typeface="Times New Roman" pitchFamily="18" charset="0"/>
                <a:cs typeface="Times New Roman" pitchFamily="18" charset="0"/>
              </a:rPr>
              <a:t>: It explains how to share the link.</a:t>
            </a:r>
          </a:p>
          <a:p>
            <a:pPr lvl="2"/>
            <a:endParaRPr lang="en-US" dirty="0" smtClean="0">
              <a:latin typeface="Times New Roman" pitchFamily="18" charset="0"/>
              <a:cs typeface="Times New Roman" pitchFamily="18" charset="0"/>
            </a:endParaRPr>
          </a:p>
          <a:p>
            <a:pPr>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r>
              <a:rPr lang="en-US" sz="2800" b="1" dirty="0" smtClean="0">
                <a:latin typeface="Times New Roman" pitchFamily="18" charset="0"/>
                <a:cs typeface="Times New Roman" pitchFamily="18" charset="0"/>
              </a:rPr>
              <a:t>DATA LINK CONTROL (DLC):</a:t>
            </a:r>
            <a:r>
              <a:rPr lang="en-US" sz="2800" dirty="0" smtClean="0">
                <a:latin typeface="Times New Roman" pitchFamily="18" charset="0"/>
                <a:cs typeface="Times New Roman" pitchFamily="18" charset="0"/>
              </a:rPr>
              <a:t> Data link control functions </a:t>
            </a:r>
            <a:r>
              <a:rPr lang="en-US" sz="2800" dirty="0" smtClean="0">
                <a:latin typeface="Times New Roman" pitchFamily="18" charset="0"/>
                <a:cs typeface="Times New Roman" pitchFamily="18" charset="0"/>
              </a:rPr>
              <a:t>includes</a:t>
            </a:r>
            <a:endParaRPr lang="en-US" sz="3600" dirty="0" smtClean="0">
              <a:latin typeface="Times New Roman" pitchFamily="18" charset="0"/>
              <a:cs typeface="Times New Roman" pitchFamily="18" charset="0"/>
            </a:endParaRPr>
          </a:p>
          <a:p>
            <a:pPr lvl="1">
              <a:buFont typeface="Wingdings" pitchFamily="2" charset="2"/>
              <a:buChar char="§"/>
            </a:pPr>
            <a:r>
              <a:rPr lang="en-US" sz="2400" b="1" dirty="0" smtClean="0">
                <a:latin typeface="Times New Roman" pitchFamily="18" charset="0"/>
                <a:cs typeface="Times New Roman" pitchFamily="18" charset="0"/>
              </a:rPr>
              <a:t>Framing</a:t>
            </a:r>
            <a:r>
              <a:rPr lang="en-US" sz="2400" b="1" dirty="0" smtClean="0">
                <a:latin typeface="Times New Roman" pitchFamily="18" charset="0"/>
                <a:cs typeface="Times New Roman" pitchFamily="18" charset="0"/>
              </a:rPr>
              <a:t>.</a:t>
            </a:r>
            <a:endParaRPr lang="en-US" sz="3600" dirty="0" smtClean="0">
              <a:latin typeface="Times New Roman" pitchFamily="18" charset="0"/>
              <a:cs typeface="Times New Roman" pitchFamily="18" charset="0"/>
            </a:endParaRPr>
          </a:p>
          <a:p>
            <a:pPr lvl="1">
              <a:buFont typeface="Wingdings" pitchFamily="2" charset="2"/>
              <a:buChar char="§"/>
            </a:pPr>
            <a:r>
              <a:rPr lang="en-US" sz="2400" b="1" dirty="0" smtClean="0">
                <a:latin typeface="Times New Roman" pitchFamily="18" charset="0"/>
                <a:cs typeface="Times New Roman" pitchFamily="18" charset="0"/>
              </a:rPr>
              <a:t>Error Control</a:t>
            </a:r>
            <a:r>
              <a:rPr lang="en-US" sz="2400" b="1" dirty="0" smtClean="0">
                <a:latin typeface="Times New Roman" pitchFamily="18" charset="0"/>
                <a:cs typeface="Times New Roman" pitchFamily="18" charset="0"/>
              </a:rPr>
              <a:t>.</a:t>
            </a:r>
            <a:endParaRPr lang="en-US" sz="3600" dirty="0" smtClean="0">
              <a:latin typeface="Times New Roman" pitchFamily="18" charset="0"/>
              <a:cs typeface="Times New Roman" pitchFamily="18" charset="0"/>
            </a:endParaRPr>
          </a:p>
          <a:p>
            <a:pPr lvl="1">
              <a:buFont typeface="Wingdings" pitchFamily="2" charset="2"/>
              <a:buChar char="§"/>
            </a:pPr>
            <a:r>
              <a:rPr lang="en-US" sz="2400" b="1" dirty="0" smtClean="0">
                <a:latin typeface="Times New Roman" pitchFamily="18" charset="0"/>
                <a:cs typeface="Times New Roman" pitchFamily="18" charset="0"/>
              </a:rPr>
              <a:t>Flow Control</a:t>
            </a:r>
            <a:r>
              <a:rPr lang="en-US" sz="2400" b="1" dirty="0" smtClean="0">
                <a:latin typeface="Times New Roman" pitchFamily="18" charset="0"/>
                <a:cs typeface="Times New Roman" pitchFamily="18" charset="0"/>
              </a:rPr>
              <a:t>.</a:t>
            </a:r>
          </a:p>
          <a:p>
            <a:pPr lvl="1">
              <a:buNone/>
            </a:pPr>
            <a:endParaRPr lang="en-US" sz="2400" dirty="0" smtClean="0">
              <a:latin typeface="Times New Roman" pitchFamily="18" charset="0"/>
              <a:cs typeface="Times New Roman" pitchFamily="18" charset="0"/>
            </a:endParaRPr>
          </a:p>
          <a:p>
            <a:pPr lvl="0"/>
            <a:r>
              <a:rPr lang="en-US" sz="2400" b="1" u="heavy" dirty="0" smtClean="0">
                <a:latin typeface="Times New Roman" pitchFamily="18" charset="0"/>
                <a:cs typeface="Times New Roman" pitchFamily="18" charset="0"/>
              </a:rPr>
              <a:t>FRAMING</a:t>
            </a:r>
            <a:endParaRPr lang="en-US"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The frame contains</a:t>
            </a:r>
            <a:endParaRPr lang="en-US" dirty="0" smtClean="0">
              <a:latin typeface="Times New Roman" pitchFamily="18" charset="0"/>
              <a:cs typeface="Times New Roman" pitchFamily="18" charset="0"/>
            </a:endParaRPr>
          </a:p>
          <a:p>
            <a:pPr lvl="1"/>
            <a:r>
              <a:rPr lang="en-US" sz="2000" dirty="0" smtClean="0">
                <a:latin typeface="Times New Roman" pitchFamily="18" charset="0"/>
                <a:cs typeface="Times New Roman" pitchFamily="18" charset="0"/>
              </a:rPr>
              <a:t>Frame header</a:t>
            </a:r>
          </a:p>
          <a:p>
            <a:pPr lvl="1"/>
            <a:r>
              <a:rPr lang="en-US" sz="2000" dirty="0" smtClean="0">
                <a:latin typeface="Times New Roman" pitchFamily="18" charset="0"/>
                <a:cs typeface="Times New Roman" pitchFamily="18" charset="0"/>
              </a:rPr>
              <a:t>Payload field for holding packet</a:t>
            </a:r>
          </a:p>
          <a:p>
            <a:r>
              <a:rPr lang="en-US" sz="2400" dirty="0" smtClean="0">
                <a:latin typeface="Times New Roman" pitchFamily="18" charset="0"/>
                <a:cs typeface="Times New Roman" pitchFamily="18" charset="0"/>
              </a:rPr>
              <a:t>Frame trailer</a:t>
            </a:r>
            <a:endParaRPr lang="en-US" sz="24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r>
              <a:rPr lang="en-US" sz="2400" b="1" dirty="0" smtClean="0">
                <a:latin typeface="Times New Roman" pitchFamily="18" charset="0"/>
                <a:cs typeface="Times New Roman" pitchFamily="18" charset="0"/>
              </a:rPr>
              <a:t>Services provided to the network layer</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Transferring data from the network layer on the source machine to the network layer on the destination machine. The data link layer can be designed to offer various services. </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The </a:t>
            </a:r>
            <a:r>
              <a:rPr lang="en-US" sz="2400" dirty="0" smtClean="0">
                <a:latin typeface="Times New Roman" pitchFamily="18" charset="0"/>
                <a:cs typeface="Times New Roman" pitchFamily="18" charset="0"/>
              </a:rPr>
              <a:t>actual services offered can vary from system to system. Three reasonable possibilities that are commonly provided are</a:t>
            </a:r>
          </a:p>
          <a:p>
            <a:pPr>
              <a:buNone/>
            </a:pPr>
            <a:endParaRPr lang="en-US" dirty="0"/>
          </a:p>
        </p:txBody>
      </p:sp>
      <p:pic>
        <p:nvPicPr>
          <p:cNvPr id="5" name="image1.jpeg"/>
          <p:cNvPicPr/>
          <p:nvPr/>
        </p:nvPicPr>
        <p:blipFill>
          <a:blip r:embed="rId2" cstate="print"/>
          <a:stretch>
            <a:fillRect/>
          </a:stretch>
        </p:blipFill>
        <p:spPr>
          <a:xfrm>
            <a:off x="1219200" y="3352800"/>
            <a:ext cx="6400800" cy="2438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85000" lnSpcReduction="10000"/>
          </a:bodyPr>
          <a:lstStyle/>
          <a:p>
            <a:pPr lvl="0"/>
            <a:r>
              <a:rPr lang="en-US" b="1" dirty="0" smtClean="0"/>
              <a:t>Unacknowledged connectionless </a:t>
            </a:r>
            <a:r>
              <a:rPr lang="en-US" b="1" dirty="0" smtClean="0"/>
              <a:t>service</a:t>
            </a:r>
          </a:p>
          <a:p>
            <a:pPr lvl="1"/>
            <a:r>
              <a:rPr lang="en-US" dirty="0" smtClean="0"/>
              <a:t>Source machine sends independent frames to destination machine having destination machine acknowledge them</a:t>
            </a:r>
          </a:p>
          <a:p>
            <a:pPr lvl="1"/>
            <a:r>
              <a:rPr lang="en-US" dirty="0" smtClean="0"/>
              <a:t>No logical connection</a:t>
            </a:r>
          </a:p>
          <a:p>
            <a:pPr lvl="0"/>
            <a:endParaRPr lang="en-US" b="1" dirty="0" smtClean="0"/>
          </a:p>
          <a:p>
            <a:pPr lvl="0"/>
            <a:r>
              <a:rPr lang="en-US" b="1" dirty="0" smtClean="0"/>
              <a:t>Acknowledged connectionless </a:t>
            </a:r>
            <a:r>
              <a:rPr lang="en-US" b="1" dirty="0" smtClean="0"/>
              <a:t>service</a:t>
            </a:r>
          </a:p>
          <a:p>
            <a:pPr lvl="1"/>
            <a:r>
              <a:rPr lang="en-US" dirty="0" smtClean="0"/>
              <a:t>No logical connection</a:t>
            </a:r>
          </a:p>
          <a:p>
            <a:pPr lvl="1"/>
            <a:r>
              <a:rPr lang="en-US" dirty="0" smtClean="0"/>
              <a:t>Each frame sent is individually acknowledged</a:t>
            </a:r>
          </a:p>
          <a:p>
            <a:pPr lvl="0">
              <a:buNone/>
            </a:pPr>
            <a:endParaRPr lang="en-US" b="1" dirty="0" smtClean="0"/>
          </a:p>
          <a:p>
            <a:pPr lvl="0"/>
            <a:r>
              <a:rPr lang="en-US" b="1" dirty="0" smtClean="0"/>
              <a:t>Acknowledged connection-oriented service</a:t>
            </a:r>
          </a:p>
          <a:p>
            <a:pPr lvl="1"/>
            <a:r>
              <a:rPr lang="en-US" dirty="0" smtClean="0"/>
              <a:t>DLL guarantees that...</a:t>
            </a:r>
          </a:p>
          <a:p>
            <a:pPr lvl="2"/>
            <a:r>
              <a:rPr lang="en-US" dirty="0" smtClean="0"/>
              <a:t>Each frame is received</a:t>
            </a:r>
          </a:p>
          <a:p>
            <a:pPr lvl="2"/>
            <a:r>
              <a:rPr lang="en-US" dirty="0" smtClean="0"/>
              <a:t>Each frame is received exactly once</a:t>
            </a:r>
          </a:p>
          <a:p>
            <a:pPr lvl="2"/>
            <a:r>
              <a:rPr lang="en-US" dirty="0" smtClean="0"/>
              <a:t>Each frame is received in the right order</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a:bodyPr>
          <a:lstStyle/>
          <a:p>
            <a:r>
              <a:rPr lang="en-US" b="1" dirty="0" smtClean="0"/>
              <a:t>FRAMING</a:t>
            </a:r>
          </a:p>
          <a:p>
            <a:pPr>
              <a:lnSpc>
                <a:spcPct val="120000"/>
              </a:lnSpc>
            </a:pPr>
            <a:r>
              <a:rPr lang="en-US" dirty="0" smtClean="0">
                <a:solidFill>
                  <a:srgbClr val="00B050"/>
                </a:solidFill>
                <a:latin typeface="Times New Roman" pitchFamily="18" charset="0"/>
                <a:cs typeface="Times New Roman" pitchFamily="18" charset="0"/>
              </a:rPr>
              <a:t>There are four methods:</a:t>
            </a:r>
          </a:p>
          <a:p>
            <a:pPr lvl="0">
              <a:lnSpc>
                <a:spcPct val="120000"/>
              </a:lnSpc>
            </a:pPr>
            <a:r>
              <a:rPr lang="en-US" dirty="0" smtClean="0"/>
              <a:t>Character </a:t>
            </a:r>
            <a:r>
              <a:rPr lang="en-US" dirty="0" smtClean="0"/>
              <a:t>count.</a:t>
            </a:r>
          </a:p>
          <a:p>
            <a:pPr lvl="0">
              <a:lnSpc>
                <a:spcPct val="120000"/>
              </a:lnSpc>
            </a:pPr>
            <a:r>
              <a:rPr lang="en-US" dirty="0" smtClean="0"/>
              <a:t>Flag </a:t>
            </a:r>
            <a:r>
              <a:rPr lang="en-US" dirty="0" smtClean="0"/>
              <a:t>bytes with byte stuffing.</a:t>
            </a:r>
          </a:p>
          <a:p>
            <a:pPr lvl="0">
              <a:lnSpc>
                <a:spcPct val="120000"/>
              </a:lnSpc>
            </a:pPr>
            <a:r>
              <a:rPr lang="en-US" dirty="0" smtClean="0"/>
              <a:t>Starting </a:t>
            </a:r>
            <a:r>
              <a:rPr lang="en-US" dirty="0" smtClean="0"/>
              <a:t>and ending flags, with bit stuffing.</a:t>
            </a:r>
          </a:p>
          <a:p>
            <a:pPr lvl="0"/>
            <a:r>
              <a:rPr lang="en-US" dirty="0" smtClean="0"/>
              <a:t>Physical layer coding violations.</a:t>
            </a:r>
          </a:p>
          <a:p>
            <a:pPr>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a:bodyPr>
          <a:lstStyle/>
          <a:p>
            <a:r>
              <a:rPr lang="en-US" sz="2400" b="1" u="heavy" dirty="0" smtClean="0">
                <a:latin typeface="Times New Roman" pitchFamily="18" charset="0"/>
                <a:cs typeface="Times New Roman" pitchFamily="18" charset="0"/>
              </a:rPr>
              <a:t>Character count:</a:t>
            </a:r>
            <a:endParaRPr lang="en-US" sz="2400" b="1" dirty="0" smtClean="0">
              <a:latin typeface="Times New Roman" pitchFamily="18" charset="0"/>
              <a:cs typeface="Times New Roman" pitchFamily="18" charset="0"/>
            </a:endParaRPr>
          </a:p>
          <a:p>
            <a:endParaRPr lang="en-US" b="1" dirty="0" smtClean="0">
              <a:latin typeface="Times New Roman" pitchFamily="18" charset="0"/>
              <a:ea typeface="Times New Roman" pitchFamily="18" charset="0"/>
              <a:cs typeface="Times New Roman" pitchFamily="18" charset="0"/>
            </a:endParaRPr>
          </a:p>
          <a:p>
            <a:endParaRPr lang="en-US" b="1" dirty="0" smtClean="0">
              <a:latin typeface="Times New Roman" pitchFamily="18" charset="0"/>
              <a:ea typeface="Times New Roman" pitchFamily="18" charset="0"/>
              <a:cs typeface="Times New Roman" pitchFamily="18" charset="0"/>
            </a:endParaRPr>
          </a:p>
          <a:p>
            <a:endParaRPr lang="en-US" b="1" dirty="0" smtClean="0">
              <a:latin typeface="Times New Roman" pitchFamily="18" charset="0"/>
              <a:ea typeface="Times New Roman" pitchFamily="18" charset="0"/>
              <a:cs typeface="Times New Roman" pitchFamily="18" charset="0"/>
            </a:endParaRPr>
          </a:p>
          <a:p>
            <a:endParaRPr lang="en-US" b="1" dirty="0" smtClean="0">
              <a:latin typeface="Times New Roman" pitchFamily="18" charset="0"/>
              <a:ea typeface="Times New Roman" pitchFamily="18" charset="0"/>
              <a:cs typeface="Times New Roman" pitchFamily="18" charset="0"/>
            </a:endParaRPr>
          </a:p>
          <a:p>
            <a:endParaRPr lang="en-US" b="1" dirty="0" smtClean="0">
              <a:latin typeface="Times New Roman" pitchFamily="18" charset="0"/>
              <a:ea typeface="Times New Roman" pitchFamily="18" charset="0"/>
              <a:cs typeface="Times New Roman" pitchFamily="18" charset="0"/>
            </a:endParaRPr>
          </a:p>
          <a:p>
            <a:endParaRPr lang="en-US" sz="2400" b="1" dirty="0" smtClean="0">
              <a:latin typeface="Times New Roman" pitchFamily="18" charset="0"/>
              <a:ea typeface="Times New Roman" pitchFamily="18" charset="0"/>
              <a:cs typeface="Times New Roman" pitchFamily="18" charset="0"/>
            </a:endParaRPr>
          </a:p>
          <a:p>
            <a:endParaRPr lang="en-US" sz="2400" b="1" dirty="0" smtClean="0">
              <a:latin typeface="Times New Roman" pitchFamily="18" charset="0"/>
              <a:ea typeface="Times New Roman" pitchFamily="18" charset="0"/>
              <a:cs typeface="Times New Roman" pitchFamily="18" charset="0"/>
            </a:endParaRPr>
          </a:p>
          <a:p>
            <a:r>
              <a:rPr lang="en-US" sz="2400" b="1" dirty="0" smtClean="0">
                <a:latin typeface="Times New Roman" pitchFamily="18" charset="0"/>
                <a:ea typeface="Times New Roman" pitchFamily="18" charset="0"/>
                <a:cs typeface="Times New Roman" pitchFamily="18" charset="0"/>
              </a:rPr>
              <a:t>Figure </a:t>
            </a:r>
            <a:r>
              <a:rPr lang="en-US" sz="2400" b="1" dirty="0" smtClean="0">
                <a:latin typeface="Times New Roman" pitchFamily="18" charset="0"/>
                <a:ea typeface="Times New Roman" pitchFamily="18" charset="0"/>
                <a:cs typeface="Times New Roman" pitchFamily="18" charset="0"/>
              </a:rPr>
              <a:t>3-4. A character stream. (a) Without errors. (b) With one error.</a:t>
            </a:r>
            <a:endParaRPr lang="en-US" sz="2400" dirty="0"/>
          </a:p>
        </p:txBody>
      </p:sp>
      <p:pic>
        <p:nvPicPr>
          <p:cNvPr id="4" name="image4.jpeg"/>
          <p:cNvPicPr/>
          <p:nvPr/>
        </p:nvPicPr>
        <p:blipFill>
          <a:blip r:embed="rId2" cstate="print"/>
          <a:stretch>
            <a:fillRect/>
          </a:stretch>
        </p:blipFill>
        <p:spPr>
          <a:xfrm>
            <a:off x="1371600" y="1447800"/>
            <a:ext cx="6096000" cy="3352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r>
              <a:rPr lang="en-US" sz="2400" b="1" u="heavy" dirty="0" smtClean="0">
                <a:latin typeface="Times New Roman" pitchFamily="18" charset="0"/>
                <a:cs typeface="Times New Roman" pitchFamily="18" charset="0"/>
              </a:rPr>
              <a:t>Flag bytes with byte stuffing:</a:t>
            </a:r>
            <a:endParaRPr lang="en-US" sz="2400" b="1" dirty="0" smtClean="0">
              <a:latin typeface="Times New Roman" pitchFamily="18" charset="0"/>
              <a:cs typeface="Times New Roman" pitchFamily="18" charset="0"/>
            </a:endParaRPr>
          </a:p>
          <a:p>
            <a:r>
              <a:rPr lang="en-US" sz="2400" b="1" u="heavy" dirty="0" smtClean="0">
                <a:latin typeface="Times New Roman" pitchFamily="18" charset="0"/>
                <a:cs typeface="Times New Roman" pitchFamily="18" charset="0"/>
              </a:rPr>
              <a:t>Advantage:</a:t>
            </a:r>
            <a:endParaRPr lang="en-US" sz="2400" dirty="0" smtClean="0">
              <a:latin typeface="Times New Roman" pitchFamily="18" charset="0"/>
              <a:cs typeface="Times New Roman" pitchFamily="18" charset="0"/>
            </a:endParaRPr>
          </a:p>
          <a:p>
            <a:endParaRPr lang="en-US" b="1" dirty="0" smtClean="0"/>
          </a:p>
          <a:p>
            <a:pPr>
              <a:buNone/>
            </a:pPr>
            <a:r>
              <a:rPr lang="en-US" b="1" dirty="0" smtClean="0"/>
              <a:t> </a:t>
            </a:r>
            <a:endParaRPr lang="en-US" b="1" dirty="0" smtClean="0"/>
          </a:p>
          <a:p>
            <a:pPr>
              <a:buNone/>
            </a:pPr>
            <a:endParaRPr lang="en-US" b="1" dirty="0" smtClean="0"/>
          </a:p>
          <a:p>
            <a:pPr>
              <a:buNone/>
            </a:pPr>
            <a:endParaRPr lang="en-US" dirty="0" smtClean="0"/>
          </a:p>
          <a:p>
            <a:pPr lvl="0"/>
            <a:r>
              <a:rPr lang="en-US" sz="2400" dirty="0" smtClean="0">
                <a:latin typeface="Times New Roman" pitchFamily="18" charset="0"/>
                <a:cs typeface="Times New Roman" pitchFamily="18" charset="0"/>
              </a:rPr>
              <a:t>Simple framing method.</a:t>
            </a:r>
          </a:p>
          <a:p>
            <a:pPr lvl="0"/>
            <a:r>
              <a:rPr lang="en-US" sz="2400" dirty="0" smtClean="0">
                <a:latin typeface="Times New Roman" pitchFamily="18" charset="0"/>
                <a:cs typeface="Times New Roman" pitchFamily="18" charset="0"/>
              </a:rPr>
              <a:t>Character-oriented framing was popular when only text was exchanged by the data Link layers.</a:t>
            </a:r>
          </a:p>
          <a:p>
            <a:pPr lvl="0"/>
            <a:r>
              <a:rPr lang="en-US" sz="2400" dirty="0" smtClean="0">
                <a:latin typeface="Times New Roman" pitchFamily="18" charset="0"/>
                <a:cs typeface="Times New Roman" pitchFamily="18" charset="0"/>
              </a:rPr>
              <a:t>The flag could be selected to be any character not used for text communication.</a:t>
            </a:r>
          </a:p>
          <a:p>
            <a:endParaRPr lang="en-US" dirty="0"/>
          </a:p>
        </p:txBody>
      </p:sp>
      <p:pic>
        <p:nvPicPr>
          <p:cNvPr id="4" name="image5.png"/>
          <p:cNvPicPr/>
          <p:nvPr/>
        </p:nvPicPr>
        <p:blipFill>
          <a:blip r:embed="rId2" cstate="print"/>
          <a:stretch>
            <a:fillRect/>
          </a:stretch>
        </p:blipFill>
        <p:spPr>
          <a:xfrm>
            <a:off x="1295400" y="1752600"/>
            <a:ext cx="6324600" cy="122456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r>
              <a:rPr lang="en-US" sz="2400" b="1" dirty="0" smtClean="0">
                <a:latin typeface="Times New Roman" pitchFamily="18" charset="0"/>
                <a:cs typeface="Times New Roman" pitchFamily="18" charset="0"/>
              </a:rPr>
              <a:t>Starting and ending character with byte </a:t>
            </a:r>
            <a:r>
              <a:rPr lang="en-US" sz="2400" b="1" dirty="0" smtClean="0">
                <a:latin typeface="Times New Roman" pitchFamily="18" charset="0"/>
                <a:cs typeface="Times New Roman" pitchFamily="18" charset="0"/>
              </a:rPr>
              <a:t>stuffing </a:t>
            </a:r>
          </a:p>
          <a:p>
            <a:r>
              <a:rPr lang="en-US" sz="2400" b="1" dirty="0" smtClean="0"/>
              <a:t>Figure : Byte stuffing and </a:t>
            </a:r>
            <a:r>
              <a:rPr lang="en-US" sz="2400" b="1" dirty="0" err="1" smtClean="0"/>
              <a:t>unstuffing</a:t>
            </a:r>
            <a:endParaRPr lang="en-US" sz="2400" b="1" dirty="0" smtClean="0"/>
          </a:p>
          <a:p>
            <a:endParaRPr lang="en-US" sz="2400" b="1" dirty="0" smtClean="0">
              <a:latin typeface="Times New Roman" pitchFamily="18" charset="0"/>
              <a:cs typeface="Times New Roman" pitchFamily="18" charset="0"/>
            </a:endParaRPr>
          </a:p>
          <a:p>
            <a:endParaRPr lang="en-US" dirty="0"/>
          </a:p>
        </p:txBody>
      </p:sp>
      <p:pic>
        <p:nvPicPr>
          <p:cNvPr id="4" name="image6.png"/>
          <p:cNvPicPr/>
          <p:nvPr/>
        </p:nvPicPr>
        <p:blipFill>
          <a:blip r:embed="rId2" cstate="print"/>
          <a:stretch>
            <a:fillRect/>
          </a:stretch>
        </p:blipFill>
        <p:spPr>
          <a:xfrm>
            <a:off x="1371600" y="1752600"/>
            <a:ext cx="6248400" cy="40019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r>
              <a:rPr lang="en-US" b="1" dirty="0" smtClean="0"/>
              <a:t>Fig: Framing with byte stuffing</a:t>
            </a:r>
            <a:endParaRPr lang="en-US" dirty="0" smtClean="0"/>
          </a:p>
          <a:p>
            <a:endParaRPr lang="en-US" dirty="0"/>
          </a:p>
        </p:txBody>
      </p:sp>
      <p:pic>
        <p:nvPicPr>
          <p:cNvPr id="4" name="image7.png"/>
          <p:cNvPicPr/>
          <p:nvPr/>
        </p:nvPicPr>
        <p:blipFill>
          <a:blip r:embed="rId2" cstate="print"/>
          <a:stretch>
            <a:fillRect/>
          </a:stretch>
        </p:blipFill>
        <p:spPr>
          <a:xfrm>
            <a:off x="1447801" y="1600200"/>
            <a:ext cx="5943600" cy="3962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US" sz="2800" b="1" dirty="0" smtClean="0">
                <a:latin typeface="Times New Roman" pitchFamily="18" charset="0"/>
                <a:cs typeface="Times New Roman" pitchFamily="18" charset="0"/>
              </a:rPr>
              <a:t>Bit-Oriented framing approach</a:t>
            </a:r>
            <a:endParaRPr lang="en-US" sz="5400" b="1" dirty="0" smtClean="0">
              <a:latin typeface="Times New Roman" pitchFamily="18" charset="0"/>
              <a:cs typeface="Times New Roman" pitchFamily="18" charset="0"/>
            </a:endParaRPr>
          </a:p>
          <a:p>
            <a:pPr lvl="1"/>
            <a:r>
              <a:rPr lang="en-US" sz="2400" dirty="0" smtClean="0">
                <a:latin typeface="Times New Roman" pitchFamily="18" charset="0"/>
                <a:cs typeface="Times New Roman" pitchFamily="18" charset="0"/>
              </a:rPr>
              <a:t>Bit stuffing is the process of adding one extra 0 whenever five consecutive 1’s follow a 0 in the data, so that the receiver does not mistake the pattern 0111110 for a flag</a:t>
            </a:r>
            <a:r>
              <a:rPr lang="en-US" sz="2400" dirty="0" smtClean="0">
                <a:latin typeface="Times New Roman" pitchFamily="18" charset="0"/>
                <a:cs typeface="Times New Roman" pitchFamily="18" charset="0"/>
              </a:rPr>
              <a:t>.</a:t>
            </a:r>
          </a:p>
          <a:p>
            <a:pPr lvl="1"/>
            <a:r>
              <a:rPr lang="en-US" sz="2400" dirty="0" smtClean="0">
                <a:latin typeface="Times New Roman" pitchFamily="18" charset="0"/>
                <a:cs typeface="Times New Roman" pitchFamily="18" charset="0"/>
              </a:rPr>
              <a:t>Most protocols use a special 8-bit pattern flag 01111110 as the delimiter to define the beginning and the end of the frame, as shown in Figure below</a:t>
            </a:r>
          </a:p>
          <a:p>
            <a:endParaRPr lang="en-US" dirty="0"/>
          </a:p>
        </p:txBody>
      </p:sp>
      <p:pic>
        <p:nvPicPr>
          <p:cNvPr id="4" name="image8.png"/>
          <p:cNvPicPr/>
          <p:nvPr/>
        </p:nvPicPr>
        <p:blipFill>
          <a:blip r:embed="rId2" cstate="print"/>
          <a:stretch>
            <a:fillRect/>
          </a:stretch>
        </p:blipFill>
        <p:spPr>
          <a:xfrm>
            <a:off x="990600" y="3657600"/>
            <a:ext cx="7086600" cy="196832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r>
              <a:rPr lang="en-US" sz="2400" b="1" dirty="0" smtClean="0">
                <a:latin typeface="Times New Roman" pitchFamily="18" charset="0"/>
                <a:cs typeface="Times New Roman" pitchFamily="18" charset="0"/>
              </a:rPr>
              <a:t>Bit stuffing </a:t>
            </a:r>
            <a:r>
              <a:rPr lang="en-US" sz="2400" dirty="0" smtClean="0">
                <a:latin typeface="Times New Roman" pitchFamily="18" charset="0"/>
                <a:cs typeface="Times New Roman" pitchFamily="18" charset="0"/>
              </a:rPr>
              <a:t>is the process of adding one extra 0 whenever five consecutive 1s follow a 0 in the data, so that the receiver does not mistake the pattern 0111110 for a flag.</a:t>
            </a:r>
          </a:p>
          <a:p>
            <a:endParaRPr lang="en-US" dirty="0"/>
          </a:p>
        </p:txBody>
      </p:sp>
      <p:pic>
        <p:nvPicPr>
          <p:cNvPr id="4" name="image9.png"/>
          <p:cNvPicPr/>
          <p:nvPr/>
        </p:nvPicPr>
        <p:blipFill>
          <a:blip r:embed="rId2" cstate="print"/>
          <a:stretch>
            <a:fillRect/>
          </a:stretch>
        </p:blipFill>
        <p:spPr>
          <a:xfrm>
            <a:off x="1219200" y="2057400"/>
            <a:ext cx="6705600" cy="3733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fontScale="70000" lnSpcReduction="20000"/>
          </a:bodyPr>
          <a:lstStyle/>
          <a:p>
            <a:pPr lvl="0"/>
            <a:r>
              <a:rPr lang="en-US" b="1" dirty="0" smtClean="0">
                <a:solidFill>
                  <a:srgbClr val="FF0000"/>
                </a:solidFill>
                <a:latin typeface="Times New Roman" pitchFamily="18" charset="0"/>
                <a:cs typeface="Times New Roman" pitchFamily="18" charset="0"/>
              </a:rPr>
              <a:t>ERROR CONTROL</a:t>
            </a:r>
          </a:p>
          <a:p>
            <a:pPr>
              <a:buNone/>
            </a:pPr>
            <a:r>
              <a:rPr lang="en-US" b="1" dirty="0" smtClean="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How do we make sure that all frames are eventually delivered to the network layer at the destination and in the proper order?</a:t>
            </a:r>
          </a:p>
          <a:p>
            <a:pPr lvl="0"/>
            <a:r>
              <a:rPr lang="en-US" dirty="0" smtClean="0">
                <a:latin typeface="Times New Roman" pitchFamily="18" charset="0"/>
                <a:cs typeface="Times New Roman" pitchFamily="18" charset="0"/>
              </a:rPr>
              <a:t>Provide sender with some acknowledgement about what is happening with the receiver</a:t>
            </a:r>
          </a:p>
          <a:p>
            <a:pPr lvl="0"/>
            <a:r>
              <a:rPr lang="en-US" dirty="0" smtClean="0">
                <a:latin typeface="Times New Roman" pitchFamily="18" charset="0"/>
                <a:cs typeface="Times New Roman" pitchFamily="18" charset="0"/>
              </a:rPr>
              <a:t>Sender could wait for </a:t>
            </a:r>
            <a:r>
              <a:rPr lang="en-US" dirty="0" smtClean="0">
                <a:latin typeface="Times New Roman" pitchFamily="18" charset="0"/>
                <a:cs typeface="Times New Roman" pitchFamily="18" charset="0"/>
              </a:rPr>
              <a:t>acknowledgement</a:t>
            </a:r>
          </a:p>
          <a:p>
            <a:pPr lvl="0">
              <a:buNone/>
            </a:pPr>
            <a:endParaRPr lang="en-US" dirty="0" smtClean="0">
              <a:latin typeface="Times New Roman" pitchFamily="18" charset="0"/>
              <a:cs typeface="Times New Roman" pitchFamily="18" charset="0"/>
            </a:endParaRPr>
          </a:p>
          <a:p>
            <a:r>
              <a:rPr lang="en-US" sz="2900" b="1" dirty="0" smtClean="0">
                <a:solidFill>
                  <a:srgbClr val="7030A0"/>
                </a:solidFill>
                <a:latin typeface="Times New Roman" pitchFamily="18" charset="0"/>
                <a:cs typeface="Times New Roman" pitchFamily="18" charset="0"/>
              </a:rPr>
              <a:t>TYPES OF ERRORS</a:t>
            </a:r>
          </a:p>
          <a:p>
            <a:pPr>
              <a:buNone/>
            </a:pPr>
            <a:endParaRPr lang="en-US" dirty="0" smtClean="0">
              <a:latin typeface="Times New Roman" pitchFamily="18" charset="0"/>
              <a:cs typeface="Times New Roman" pitchFamily="18" charset="0"/>
            </a:endParaRPr>
          </a:p>
          <a:p>
            <a:pPr lvl="0"/>
            <a:r>
              <a:rPr lang="en-US" b="1" dirty="0" smtClean="0">
                <a:solidFill>
                  <a:srgbClr val="00B050"/>
                </a:solidFill>
                <a:latin typeface="Times New Roman" pitchFamily="18" charset="0"/>
                <a:cs typeface="Times New Roman" pitchFamily="18" charset="0"/>
              </a:rPr>
              <a:t>Single bit error</a:t>
            </a:r>
            <a:r>
              <a:rPr lang="en-US" dirty="0" smtClean="0">
                <a:latin typeface="Times New Roman" pitchFamily="18" charset="0"/>
                <a:cs typeface="Times New Roman" pitchFamily="18" charset="0"/>
              </a:rPr>
              <a:t>: Only one bit gets corrupted. Common in Parallel transmission.</a:t>
            </a:r>
          </a:p>
          <a:p>
            <a:pPr>
              <a:buNone/>
            </a:pPr>
            <a:endParaRPr lang="en-US" dirty="0" smtClean="0">
              <a:latin typeface="Times New Roman" pitchFamily="18" charset="0"/>
              <a:cs typeface="Times New Roman" pitchFamily="18" charset="0"/>
            </a:endParaRPr>
          </a:p>
          <a:p>
            <a:pPr lvl="0"/>
            <a:r>
              <a:rPr lang="en-US" b="1" dirty="0" smtClean="0">
                <a:solidFill>
                  <a:srgbClr val="00B050"/>
                </a:solidFill>
                <a:latin typeface="Times New Roman" pitchFamily="18" charset="0"/>
                <a:cs typeface="Times New Roman" pitchFamily="18" charset="0"/>
              </a:rPr>
              <a:t>Burst error</a:t>
            </a: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More than one bit gets corrupted very common in serial transmission of data occurs when the duration of noise is longer than the duration of one bit.</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lstStyle/>
          <a:p>
            <a:r>
              <a:rPr lang="en-US" sz="2400" b="1" dirty="0" smtClean="0">
                <a:latin typeface="Times New Roman" pitchFamily="18" charset="0"/>
                <a:cs typeface="Times New Roman" pitchFamily="18" charset="0"/>
              </a:rPr>
              <a:t>Single bit </a:t>
            </a:r>
            <a:r>
              <a:rPr lang="en-US" sz="2400" b="1" dirty="0" err="1" smtClean="0">
                <a:latin typeface="Times New Roman" pitchFamily="18" charset="0"/>
                <a:cs typeface="Times New Roman" pitchFamily="18" charset="0"/>
              </a:rPr>
              <a:t>error</a:t>
            </a:r>
            <a:r>
              <a:rPr lang="en-US" sz="2400" dirty="0" err="1" smtClean="0">
                <a:latin typeface="Times New Roman" pitchFamily="18" charset="0"/>
                <a:cs typeface="Times New Roman" pitchFamily="18" charset="0"/>
              </a:rPr>
              <a:t>:</a:t>
            </a:r>
            <a:r>
              <a:rPr lang="en-US" sz="2400" dirty="0" err="1" smtClean="0">
                <a:latin typeface="Times New Roman" pitchFamily="18" charset="0"/>
                <a:cs typeface="Times New Roman" pitchFamily="18" charset="0"/>
              </a:rPr>
              <a:t>The</a:t>
            </a:r>
            <a:r>
              <a:rPr lang="en-US" sz="2400" dirty="0" smtClean="0">
                <a:latin typeface="Times New Roman" pitchFamily="18" charset="0"/>
                <a:cs typeface="Times New Roman" pitchFamily="18" charset="0"/>
              </a:rPr>
              <a:t> term single-bit error means that only one bit of given data unit (such as a byte, character, or data unit) is changed from 1 to 0 or from 0 to </a:t>
            </a:r>
            <a:r>
              <a:rPr lang="en-US" sz="2400" dirty="0" smtClean="0">
                <a:latin typeface="Times New Roman" pitchFamily="18" charset="0"/>
                <a:cs typeface="Times New Roman" pitchFamily="18" charset="0"/>
              </a:rPr>
              <a:t>1. </a:t>
            </a:r>
            <a:endParaRPr lang="en-US" sz="2400" b="1" dirty="0" smtClean="0">
              <a:latin typeface="Times New Roman" pitchFamily="18" charset="0"/>
              <a:cs typeface="Times New Roman" pitchFamily="18" charset="0"/>
            </a:endParaRPr>
          </a:p>
          <a:p>
            <a:endParaRPr lang="en-US" dirty="0"/>
          </a:p>
        </p:txBody>
      </p:sp>
      <p:pic>
        <p:nvPicPr>
          <p:cNvPr id="4" name="image11.png"/>
          <p:cNvPicPr/>
          <p:nvPr/>
        </p:nvPicPr>
        <p:blipFill>
          <a:blip r:embed="rId2" cstate="print"/>
          <a:stretch>
            <a:fillRect/>
          </a:stretch>
        </p:blipFill>
        <p:spPr>
          <a:xfrm>
            <a:off x="1219200" y="2743200"/>
            <a:ext cx="6324599" cy="25908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US" sz="2400" b="1" dirty="0" smtClean="0">
                <a:latin typeface="Times New Roman" pitchFamily="18" charset="0"/>
                <a:cs typeface="Times New Roman" pitchFamily="18" charset="0"/>
              </a:rPr>
              <a:t>Burst error:</a:t>
            </a:r>
          </a:p>
          <a:p>
            <a:pPr lvl="0"/>
            <a:r>
              <a:rPr lang="en-US" sz="2400" dirty="0" smtClean="0">
                <a:latin typeface="Times New Roman" pitchFamily="18" charset="0"/>
                <a:cs typeface="Times New Roman" pitchFamily="18" charset="0"/>
              </a:rPr>
              <a:t>More than one bit gets corrupted very common in serial transmission of data occurs when the duration of noise is longer than the duration of one bit.</a:t>
            </a:r>
          </a:p>
          <a:p>
            <a:pPr lvl="0"/>
            <a:r>
              <a:rPr lang="en-US" sz="2400" dirty="0" smtClean="0">
                <a:latin typeface="Times New Roman" pitchFamily="18" charset="0"/>
                <a:cs typeface="Times New Roman" pitchFamily="18" charset="0"/>
              </a:rPr>
              <a:t>The noise affects data; it affects a set of bits.</a:t>
            </a:r>
          </a:p>
          <a:p>
            <a:endParaRPr lang="en-US" dirty="0"/>
          </a:p>
        </p:txBody>
      </p:sp>
      <p:pic>
        <p:nvPicPr>
          <p:cNvPr id="4" name="image12.png"/>
          <p:cNvPicPr/>
          <p:nvPr/>
        </p:nvPicPr>
        <p:blipFill>
          <a:blip r:embed="rId2" cstate="print"/>
          <a:stretch>
            <a:fillRect/>
          </a:stretch>
        </p:blipFill>
        <p:spPr>
          <a:xfrm>
            <a:off x="1295400" y="2895600"/>
            <a:ext cx="6400800" cy="2895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a:bodyPr>
          <a:lstStyle/>
          <a:p>
            <a:r>
              <a:rPr lang="en-US" sz="2400" b="1" u="sng" dirty="0" smtClean="0">
                <a:solidFill>
                  <a:srgbClr val="FF0000"/>
                </a:solidFill>
                <a:latin typeface="Times New Roman" pitchFamily="18" charset="0"/>
                <a:cs typeface="Times New Roman" pitchFamily="18" charset="0"/>
              </a:rPr>
              <a:t>ERROR  DETECTION TECHNIQUES</a:t>
            </a:r>
          </a:p>
          <a:p>
            <a:pPr algn="just" fontAlgn="base"/>
            <a:r>
              <a:rPr lang="en-US" sz="2400" b="1" dirty="0" smtClean="0">
                <a:latin typeface="Times New Roman" pitchFamily="18" charset="0"/>
                <a:cs typeface="Times New Roman" pitchFamily="18" charset="0"/>
              </a:rPr>
              <a:t>Cyclic redundancy check (CRC)</a:t>
            </a:r>
            <a:endParaRPr lang="en-US" sz="2400" dirty="0" smtClean="0">
              <a:latin typeface="Times New Roman" pitchFamily="18" charset="0"/>
              <a:cs typeface="Times New Roman" pitchFamily="18" charset="0"/>
            </a:endParaRPr>
          </a:p>
          <a:p>
            <a:pPr lvl="0" algn="just" fontAlgn="base"/>
            <a:r>
              <a:rPr lang="en-US" sz="2400" dirty="0" smtClean="0">
                <a:latin typeface="Times New Roman" pitchFamily="18" charset="0"/>
                <a:cs typeface="Times New Roman" pitchFamily="18" charset="0"/>
              </a:rPr>
              <a:t>Unlike checksum scheme, which is based on addition, CRC is based on binary division.</a:t>
            </a:r>
          </a:p>
          <a:p>
            <a:pPr lvl="0" algn="just" fontAlgn="base"/>
            <a:r>
              <a:rPr lang="en-US" sz="2400" dirty="0" smtClean="0">
                <a:latin typeface="Times New Roman" pitchFamily="18" charset="0"/>
                <a:cs typeface="Times New Roman" pitchFamily="18" charset="0"/>
              </a:rPr>
              <a:t>In CRC, a sequence of redundant bits, called cyclic redundancy check bits, are appended to the end of data unit so that the resulting data unit becomes exactly divisible by a second, predetermined binary number.</a:t>
            </a:r>
          </a:p>
          <a:p>
            <a:pPr lvl="0" algn="just" fontAlgn="base"/>
            <a:r>
              <a:rPr lang="en-US" sz="2400" dirty="0" smtClean="0">
                <a:latin typeface="Times New Roman" pitchFamily="18" charset="0"/>
                <a:cs typeface="Times New Roman" pitchFamily="18" charset="0"/>
              </a:rPr>
              <a:t>At the destination, the incoming data unit is divided by the same number. If at this step there is no remainder, the data unit is assumed to be correct and is therefore accepted.</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r>
              <a:rPr lang="en-US" dirty="0" smtClean="0"/>
              <a:t>CRC</a:t>
            </a:r>
            <a:endParaRPr lang="en-US" dirty="0"/>
          </a:p>
        </p:txBody>
      </p:sp>
      <p:pic>
        <p:nvPicPr>
          <p:cNvPr id="5" name="Picture 4" descr="C:\Users\HELLO\Desktop\detect15.jpg"/>
          <p:cNvPicPr/>
          <p:nvPr/>
        </p:nvPicPr>
        <p:blipFill>
          <a:blip r:embed="rId2" cstate="print"/>
          <a:srcRect/>
          <a:stretch>
            <a:fillRect/>
          </a:stretch>
        </p:blipFill>
        <p:spPr bwMode="auto">
          <a:xfrm>
            <a:off x="1600200" y="914400"/>
            <a:ext cx="6781800" cy="54102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US" sz="2400" b="1" dirty="0" smtClean="0">
                <a:solidFill>
                  <a:srgbClr val="FF0000"/>
                </a:solidFill>
                <a:latin typeface="Times New Roman" pitchFamily="18" charset="0"/>
                <a:cs typeface="Times New Roman" pitchFamily="18" charset="0"/>
              </a:rPr>
              <a:t>ELEMENTARY  DATA LINK LAYER </a:t>
            </a:r>
            <a:r>
              <a:rPr lang="en-US" sz="2400" b="1" dirty="0" smtClean="0">
                <a:solidFill>
                  <a:srgbClr val="FF0000"/>
                </a:solidFill>
                <a:latin typeface="Times New Roman" pitchFamily="18" charset="0"/>
                <a:cs typeface="Times New Roman" pitchFamily="18" charset="0"/>
              </a:rPr>
              <a:t>PROTOCOLS</a:t>
            </a:r>
            <a:r>
              <a:rPr lang="en-US" sz="2400" dirty="0" smtClean="0">
                <a:solidFill>
                  <a:srgbClr val="FF0000"/>
                </a:solidFill>
                <a:latin typeface="Times New Roman" pitchFamily="18" charset="0"/>
                <a:cs typeface="Times New Roman" pitchFamily="18" charset="0"/>
              </a:rPr>
              <a:t> </a:t>
            </a:r>
          </a:p>
          <a:p>
            <a:r>
              <a:rPr lang="en-US" sz="2400" b="1" dirty="0" smtClean="0">
                <a:latin typeface="Times New Roman" pitchFamily="18" charset="0"/>
                <a:cs typeface="Times New Roman" pitchFamily="18" charset="0"/>
              </a:rPr>
              <a:t>PROTOCOLS</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The protocols are normally implemented in software by using one of the common programming languages.</a:t>
            </a:r>
          </a:p>
          <a:p>
            <a:endParaRPr lang="en-US" dirty="0"/>
          </a:p>
        </p:txBody>
      </p:sp>
      <p:pic>
        <p:nvPicPr>
          <p:cNvPr id="4" name="Picture 3" descr="C:\Users\HELLO\Desktop\taxonomy-of-protocols.png"/>
          <p:cNvPicPr/>
          <p:nvPr/>
        </p:nvPicPr>
        <p:blipFill>
          <a:blip r:embed="rId2" cstate="print"/>
          <a:srcRect/>
          <a:stretch>
            <a:fillRect/>
          </a:stretch>
        </p:blipFill>
        <p:spPr bwMode="auto">
          <a:xfrm>
            <a:off x="1524000" y="2743200"/>
            <a:ext cx="5715000" cy="30480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r>
              <a:rPr lang="en-US" sz="2000" b="1" dirty="0" smtClean="0">
                <a:solidFill>
                  <a:srgbClr val="00B0F0"/>
                </a:solidFill>
                <a:latin typeface="Times New Roman" pitchFamily="18" charset="0"/>
                <a:cs typeface="Times New Roman" pitchFamily="18" charset="0"/>
              </a:rPr>
              <a:t>NOISELESS CHANNELS</a:t>
            </a:r>
            <a:endParaRPr lang="en-US" sz="2000" dirty="0" smtClean="0">
              <a:solidFill>
                <a:srgbClr val="00B0F0"/>
              </a:solidFill>
              <a:latin typeface="Times New Roman" pitchFamily="18" charset="0"/>
              <a:cs typeface="Times New Roman" pitchFamily="18" charset="0"/>
            </a:endParaRPr>
          </a:p>
          <a:p>
            <a:r>
              <a:rPr lang="en-US" sz="2400" b="1" dirty="0" smtClean="0">
                <a:solidFill>
                  <a:srgbClr val="7030A0"/>
                </a:solidFill>
                <a:latin typeface="Times New Roman" pitchFamily="18" charset="0"/>
                <a:cs typeface="Times New Roman" pitchFamily="18" charset="0"/>
              </a:rPr>
              <a:t>Simplest Protocol</a:t>
            </a:r>
            <a:endParaRPr lang="en-US" sz="2400" dirty="0" smtClean="0">
              <a:solidFill>
                <a:srgbClr val="7030A0"/>
              </a:solidFill>
              <a:latin typeface="Times New Roman" pitchFamily="18" charset="0"/>
              <a:cs typeface="Times New Roman" pitchFamily="18" charset="0"/>
            </a:endParaRPr>
          </a:p>
          <a:p>
            <a:r>
              <a:rPr lang="en-US" sz="2400" dirty="0" smtClean="0">
                <a:latin typeface="Times New Roman" pitchFamily="18" charset="0"/>
                <a:cs typeface="Times New Roman" pitchFamily="18" charset="0"/>
              </a:rPr>
              <a:t> It has no flow or error control. It is a unidirectional protocol in which data frames are traveling in only one direction-from the sender to receiver</a:t>
            </a:r>
            <a:r>
              <a:rPr lang="en-US" sz="2400" dirty="0" smtClean="0">
                <a:latin typeface="Times New Roman" pitchFamily="18" charset="0"/>
                <a:cs typeface="Times New Roman" pitchFamily="18" charset="0"/>
              </a:rPr>
              <a:t>.</a:t>
            </a:r>
          </a:p>
          <a:p>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The data link layer of the receiver immediately removes the header from the frame and hands the data packet to its network layer, which can also accept the packet </a:t>
            </a:r>
            <a:r>
              <a:rPr lang="en-US" sz="2400" dirty="0" smtClean="0">
                <a:latin typeface="Times New Roman" pitchFamily="18" charset="0"/>
                <a:cs typeface="Times New Roman" pitchFamily="18" charset="0"/>
              </a:rPr>
              <a:t>immediately</a:t>
            </a:r>
          </a:p>
          <a:p>
            <a:endParaRPr lang="en-US" sz="2400" dirty="0">
              <a:latin typeface="Times New Roman" pitchFamily="18" charset="0"/>
              <a:cs typeface="Times New Roman" pitchFamily="18" charset="0"/>
            </a:endParaRPr>
          </a:p>
        </p:txBody>
      </p:sp>
      <p:pic>
        <p:nvPicPr>
          <p:cNvPr id="4" name="Picture 3" descr="http://img.brainkart.com/extra/z8iCbB0.jpg"/>
          <p:cNvPicPr/>
          <p:nvPr/>
        </p:nvPicPr>
        <p:blipFill>
          <a:blip r:embed="rId2" cstate="print"/>
          <a:srcRect/>
          <a:stretch>
            <a:fillRect/>
          </a:stretch>
        </p:blipFill>
        <p:spPr bwMode="auto">
          <a:xfrm>
            <a:off x="1752600" y="3657600"/>
            <a:ext cx="5410200" cy="266700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US" sz="2400" b="1" dirty="0" smtClean="0">
                <a:solidFill>
                  <a:srgbClr val="7030A0"/>
                </a:solidFill>
                <a:latin typeface="Times New Roman" pitchFamily="18" charset="0"/>
                <a:cs typeface="Times New Roman" pitchFamily="18" charset="0"/>
              </a:rPr>
              <a:t>Stop-and-Wait Protocol</a:t>
            </a:r>
            <a:endParaRPr lang="en-US" sz="2400" dirty="0" smtClean="0">
              <a:solidFill>
                <a:srgbClr val="7030A0"/>
              </a:solidFill>
              <a:latin typeface="Times New Roman" pitchFamily="18" charset="0"/>
              <a:cs typeface="Times New Roman" pitchFamily="18" charset="0"/>
            </a:endParaRPr>
          </a:p>
          <a:p>
            <a:r>
              <a:rPr lang="en-US" sz="2400" dirty="0" smtClean="0">
                <a:latin typeface="Times New Roman" pitchFamily="18" charset="0"/>
                <a:cs typeface="Times New Roman" pitchFamily="18" charset="0"/>
              </a:rPr>
              <a:t>If data frames arrive at the receiver site faster than they can be processed, the frames must be stored until their use.</a:t>
            </a:r>
          </a:p>
          <a:p>
            <a:r>
              <a:rPr lang="en-US" sz="2400" dirty="0" smtClean="0">
                <a:latin typeface="Times New Roman" pitchFamily="18" charset="0"/>
                <a:cs typeface="Times New Roman" pitchFamily="18" charset="0"/>
              </a:rPr>
              <a:t> In Stop-and-Wait Protocol the sender sends one frame, stops until it receives confirmation from the receiver (okay to go ahead), and then sends the next frame.</a:t>
            </a:r>
          </a:p>
          <a:p>
            <a:endParaRPr lang="en-US" dirty="0"/>
          </a:p>
        </p:txBody>
      </p:sp>
      <p:pic>
        <p:nvPicPr>
          <p:cNvPr id="4" name="Picture 3" descr="http://img.brainkart.com/extra/IuDRtIm.jpg"/>
          <p:cNvPicPr/>
          <p:nvPr/>
        </p:nvPicPr>
        <p:blipFill>
          <a:blip r:embed="rId2" cstate="print"/>
          <a:srcRect/>
          <a:stretch>
            <a:fillRect/>
          </a:stretch>
        </p:blipFill>
        <p:spPr bwMode="auto">
          <a:xfrm>
            <a:off x="2286000" y="3124200"/>
            <a:ext cx="5181600" cy="320040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a:bodyPr>
          <a:lstStyle/>
          <a:p>
            <a:r>
              <a:rPr lang="en-US" sz="2400" b="1" dirty="0" smtClean="0">
                <a:solidFill>
                  <a:srgbClr val="00B0F0"/>
                </a:solidFill>
                <a:latin typeface="Times New Roman" pitchFamily="18" charset="0"/>
                <a:cs typeface="Times New Roman" pitchFamily="18" charset="0"/>
              </a:rPr>
              <a:t>Noisy Channels:</a:t>
            </a:r>
            <a:endParaRPr lang="en-US" sz="2400" dirty="0" smtClean="0">
              <a:solidFill>
                <a:srgbClr val="00B0F0"/>
              </a:solidFill>
              <a:latin typeface="Times New Roman" pitchFamily="18" charset="0"/>
              <a:cs typeface="Times New Roman" pitchFamily="18" charset="0"/>
            </a:endParaRPr>
          </a:p>
          <a:p>
            <a:r>
              <a:rPr lang="en-US" sz="2400" b="1" dirty="0" smtClean="0">
                <a:solidFill>
                  <a:srgbClr val="7030A0"/>
                </a:solidFill>
                <a:latin typeface="Times New Roman" pitchFamily="18" charset="0"/>
                <a:cs typeface="Times New Roman" pitchFamily="18" charset="0"/>
              </a:rPr>
              <a:t>1. Stop-and-Wait Automatic Repeat Request</a:t>
            </a:r>
            <a:endParaRPr lang="en-US" sz="2400" dirty="0" smtClean="0">
              <a:solidFill>
                <a:srgbClr val="7030A0"/>
              </a:solidFill>
              <a:latin typeface="Times New Roman" pitchFamily="18" charset="0"/>
              <a:cs typeface="Times New Roman" pitchFamily="18" charset="0"/>
            </a:endParaRPr>
          </a:p>
          <a:p>
            <a:r>
              <a:rPr lang="en-US" sz="2400" dirty="0" smtClean="0">
                <a:latin typeface="Times New Roman" pitchFamily="18" charset="0"/>
                <a:cs typeface="Times New Roman" pitchFamily="18" charset="0"/>
              </a:rPr>
              <a:t> The Stop-and-Wait Automatic Repeat Request (Stop-and-Wait ARQ), adds a simple error control mechanism to the Stop-and-Wait Protocol. </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To </a:t>
            </a:r>
            <a:r>
              <a:rPr lang="en-US" sz="2400" dirty="0" smtClean="0">
                <a:latin typeface="Times New Roman" pitchFamily="18" charset="0"/>
                <a:cs typeface="Times New Roman" pitchFamily="18" charset="0"/>
              </a:rPr>
              <a:t>detect and correct corrupted frames, we need to add redundancy bits to our data frame. </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When </a:t>
            </a:r>
            <a:r>
              <a:rPr lang="en-US" sz="2400" dirty="0" smtClean="0">
                <a:latin typeface="Times New Roman" pitchFamily="18" charset="0"/>
                <a:cs typeface="Times New Roman" pitchFamily="18" charset="0"/>
              </a:rPr>
              <a:t>the frame arrives at the receiver site, it is checked and if it is corrupted, it is silently discarded. </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The </a:t>
            </a:r>
            <a:r>
              <a:rPr lang="en-US" sz="2400" dirty="0" smtClean="0">
                <a:latin typeface="Times New Roman" pitchFamily="18" charset="0"/>
                <a:cs typeface="Times New Roman" pitchFamily="18" charset="0"/>
              </a:rPr>
              <a:t>detection of errors in this protocol is manifested by the silence of the receiver.</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b="1" dirty="0" smtClean="0">
                <a:latin typeface="Times New Roman" pitchFamily="18" charset="0"/>
                <a:cs typeface="Times New Roman" pitchFamily="18" charset="0"/>
              </a:rPr>
              <a:t>Stop-and-Wait Automatic Repeat Request</a:t>
            </a:r>
            <a:endParaRPr lang="en-US" sz="2400" dirty="0">
              <a:latin typeface="Times New Roman" pitchFamily="18" charset="0"/>
              <a:cs typeface="Times New Roman" pitchFamily="18" charset="0"/>
            </a:endParaRPr>
          </a:p>
        </p:txBody>
      </p:sp>
      <p:pic>
        <p:nvPicPr>
          <p:cNvPr id="4" name="Content Placeholder 3" descr="http://img.brainkart.com/extra/0JMC374.jpg"/>
          <p:cNvPicPr>
            <a:picLocks noGrp="1"/>
          </p:cNvPicPr>
          <p:nvPr>
            <p:ph idx="1"/>
          </p:nvPr>
        </p:nvPicPr>
        <p:blipFill>
          <a:blip r:embed="rId2" cstate="print"/>
          <a:srcRect/>
          <a:stretch>
            <a:fillRect/>
          </a:stretch>
        </p:blipFill>
        <p:spPr bwMode="auto">
          <a:xfrm>
            <a:off x="1214437" y="1295400"/>
            <a:ext cx="6786563" cy="495300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90600"/>
            <a:ext cx="8229600" cy="4525963"/>
          </a:xfrm>
        </p:spPr>
        <p:txBody>
          <a:bodyPr>
            <a:normAutofit/>
          </a:bodyPr>
          <a:lstStyle/>
          <a:p>
            <a:r>
              <a:rPr lang="en-US" sz="2400" b="1" dirty="0" smtClean="0">
                <a:solidFill>
                  <a:srgbClr val="7030A0"/>
                </a:solidFill>
                <a:latin typeface="Times New Roman" pitchFamily="18" charset="0"/>
                <a:cs typeface="Times New Roman" pitchFamily="18" charset="0"/>
              </a:rPr>
              <a:t>Go-Back-N  Automatic Repeat </a:t>
            </a:r>
            <a:r>
              <a:rPr lang="en-US" sz="2400" b="1" dirty="0" smtClean="0">
                <a:solidFill>
                  <a:srgbClr val="7030A0"/>
                </a:solidFill>
                <a:latin typeface="Times New Roman" pitchFamily="18" charset="0"/>
                <a:cs typeface="Times New Roman" pitchFamily="18" charset="0"/>
              </a:rPr>
              <a:t>Request</a:t>
            </a:r>
          </a:p>
          <a:p>
            <a:r>
              <a:rPr lang="en-US" sz="2400" dirty="0" smtClean="0">
                <a:latin typeface="Times New Roman" pitchFamily="18" charset="0"/>
                <a:cs typeface="Times New Roman" pitchFamily="18" charset="0"/>
              </a:rPr>
              <a:t>a data link layer protocol that uses a sliding window mechanism for reliable data transmission</a:t>
            </a:r>
            <a:r>
              <a:rPr lang="en-US" sz="2400" dirty="0" smtClean="0">
                <a:latin typeface="Times New Roman" pitchFamily="18" charset="0"/>
                <a:cs typeface="Times New Roman" pitchFamily="18" charset="0"/>
              </a:rPr>
              <a:t>.</a:t>
            </a:r>
          </a:p>
          <a:p>
            <a:r>
              <a:rPr lang="en-US" sz="2400" dirty="0" smtClean="0">
                <a:latin typeface="Times New Roman" pitchFamily="18" charset="0"/>
                <a:cs typeface="Times New Roman" pitchFamily="18" charset="0"/>
              </a:rPr>
              <a:t> It allows a sender to transmit multiple frames (up to a window size 'N') without waiting for acknowledgements</a:t>
            </a:r>
            <a:r>
              <a:rPr lang="en-US" sz="2400" dirty="0" smtClean="0">
                <a:latin typeface="Times New Roman" pitchFamily="18" charset="0"/>
                <a:cs typeface="Times New Roman" pitchFamily="18" charset="0"/>
              </a:rPr>
              <a:t>.</a:t>
            </a:r>
          </a:p>
          <a:p>
            <a:r>
              <a:rPr lang="en-US" sz="2400" dirty="0" smtClean="0">
                <a:latin typeface="Times New Roman" pitchFamily="18" charset="0"/>
                <a:cs typeface="Times New Roman" pitchFamily="18" charset="0"/>
              </a:rPr>
              <a:t> If a frame is lost or times out, the sender retransmits that frame and all subsequent frames within the window. </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US" sz="2400" b="1" dirty="0" smtClean="0">
                <a:solidFill>
                  <a:srgbClr val="7030A0"/>
                </a:solidFill>
                <a:latin typeface="Times New Roman" pitchFamily="18" charset="0"/>
                <a:cs typeface="Times New Roman" pitchFamily="18" charset="0"/>
              </a:rPr>
              <a:t>Go-Back-N  Automatic Repeat Request</a:t>
            </a:r>
          </a:p>
          <a:p>
            <a:endParaRPr lang="en-US" dirty="0"/>
          </a:p>
        </p:txBody>
      </p:sp>
      <p:pic>
        <p:nvPicPr>
          <p:cNvPr id="4" name="Picture 3" descr="http://img.brainkart.com/extra/oM7WSIU.jpg"/>
          <p:cNvPicPr/>
          <p:nvPr/>
        </p:nvPicPr>
        <p:blipFill>
          <a:blip r:embed="rId2" cstate="print"/>
          <a:srcRect/>
          <a:stretch>
            <a:fillRect/>
          </a:stretch>
        </p:blipFill>
        <p:spPr bwMode="auto">
          <a:xfrm>
            <a:off x="990600" y="1066800"/>
            <a:ext cx="7239000" cy="4886325"/>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a:bodyPr>
          <a:lstStyle/>
          <a:p>
            <a:r>
              <a:rPr lang="en-US" sz="2400" b="1" i="1" dirty="0" smtClean="0">
                <a:solidFill>
                  <a:srgbClr val="7030A0"/>
                </a:solidFill>
                <a:latin typeface="Times New Roman" pitchFamily="18" charset="0"/>
                <a:cs typeface="Times New Roman" pitchFamily="18" charset="0"/>
              </a:rPr>
              <a:t>Sliding Window</a:t>
            </a:r>
            <a:endParaRPr lang="en-US" sz="2400" dirty="0" smtClean="0">
              <a:solidFill>
                <a:srgbClr val="7030A0"/>
              </a:solidFill>
              <a:latin typeface="Times New Roman" pitchFamily="18" charset="0"/>
              <a:cs typeface="Times New Roman" pitchFamily="18" charset="0"/>
            </a:endParaRPr>
          </a:p>
          <a:p>
            <a:r>
              <a:rPr lang="en-US" sz="2400" dirty="0" smtClean="0">
                <a:latin typeface="Times New Roman" pitchFamily="18" charset="0"/>
                <a:cs typeface="Times New Roman" pitchFamily="18" charset="0"/>
              </a:rPr>
              <a:t> The sliding window is an abstract concept that defines the range of sequence numbers that is the concern of the sender and receiver</a:t>
            </a:r>
            <a:r>
              <a:rPr lang="en-US" sz="2400" dirty="0" smtClean="0">
                <a:latin typeface="Times New Roman" pitchFamily="18" charset="0"/>
                <a:cs typeface="Times New Roman" pitchFamily="18" charset="0"/>
              </a:rPr>
              <a:t>.</a:t>
            </a:r>
          </a:p>
          <a:p>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In other words, the sender and receiver need to deal with only part of the possible sequence numbers. </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The </a:t>
            </a:r>
            <a:r>
              <a:rPr lang="en-US" sz="2400" dirty="0" smtClean="0">
                <a:latin typeface="Times New Roman" pitchFamily="18" charset="0"/>
                <a:cs typeface="Times New Roman" pitchFamily="18" charset="0"/>
              </a:rPr>
              <a:t>range which is the concern of the sender is called the send sliding </a:t>
            </a:r>
            <a:r>
              <a:rPr lang="en-US" sz="2400" dirty="0" smtClean="0">
                <a:latin typeface="Times New Roman" pitchFamily="18" charset="0"/>
                <a:cs typeface="Times New Roman" pitchFamily="18" charset="0"/>
              </a:rPr>
              <a:t>window</a:t>
            </a:r>
            <a:r>
              <a:rPr lang="en-US" sz="2400" dirty="0" smtClean="0">
                <a:latin typeface="Times New Roman" pitchFamily="18" charset="0"/>
                <a:cs typeface="Times New Roman" pitchFamily="18" charset="0"/>
              </a:rPr>
              <a:t>.</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T</a:t>
            </a:r>
            <a:r>
              <a:rPr lang="en-US" sz="2400" dirty="0" smtClean="0">
                <a:latin typeface="Times New Roman" pitchFamily="18" charset="0"/>
                <a:cs typeface="Times New Roman" pitchFamily="18" charset="0"/>
              </a:rPr>
              <a:t>he </a:t>
            </a:r>
            <a:r>
              <a:rPr lang="en-US" sz="2400" dirty="0" smtClean="0">
                <a:latin typeface="Times New Roman" pitchFamily="18" charset="0"/>
                <a:cs typeface="Times New Roman" pitchFamily="18" charset="0"/>
              </a:rPr>
              <a:t>range that is the concern of the receiver is called the  receive sliding window.</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r>
              <a:rPr lang="en-US" sz="2400" b="1" i="1" dirty="0" smtClean="0">
                <a:solidFill>
                  <a:srgbClr val="7030A0"/>
                </a:solidFill>
                <a:latin typeface="Times New Roman" pitchFamily="18" charset="0"/>
                <a:cs typeface="Times New Roman" pitchFamily="18" charset="0"/>
              </a:rPr>
              <a:t>Sliding Window</a:t>
            </a:r>
            <a:endParaRPr lang="en-US" sz="2400" dirty="0" smtClean="0">
              <a:solidFill>
                <a:srgbClr val="7030A0"/>
              </a:solidFill>
              <a:latin typeface="Times New Roman" pitchFamily="18" charset="0"/>
              <a:cs typeface="Times New Roman" pitchFamily="18" charset="0"/>
            </a:endParaRPr>
          </a:p>
          <a:p>
            <a:endParaRPr lang="en-US" dirty="0"/>
          </a:p>
        </p:txBody>
      </p:sp>
      <p:pic>
        <p:nvPicPr>
          <p:cNvPr id="4" name="Picture 3" descr="http://img.brainkart.com/extra/WYZhuNx.jpg"/>
          <p:cNvPicPr/>
          <p:nvPr/>
        </p:nvPicPr>
        <p:blipFill>
          <a:blip r:embed="rId2" cstate="print"/>
          <a:srcRect/>
          <a:stretch>
            <a:fillRect/>
          </a:stretch>
        </p:blipFill>
        <p:spPr bwMode="auto">
          <a:xfrm>
            <a:off x="990600" y="1219200"/>
            <a:ext cx="7010400" cy="440055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normAutofit/>
          </a:bodyPr>
          <a:lstStyle/>
          <a:p>
            <a:pPr algn="just"/>
            <a:r>
              <a:rPr lang="en-US" sz="2400" b="1" dirty="0" smtClean="0">
                <a:solidFill>
                  <a:srgbClr val="7030A0"/>
                </a:solidFill>
                <a:latin typeface="Times New Roman" pitchFamily="18" charset="0"/>
                <a:cs typeface="Times New Roman" pitchFamily="18" charset="0"/>
              </a:rPr>
              <a:t>Selective Repeat Automatic Repeat Request</a:t>
            </a:r>
            <a:endParaRPr lang="en-US" sz="2400" dirty="0" smtClean="0">
              <a:solidFill>
                <a:srgbClr val="7030A0"/>
              </a:solidFill>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Go-Back-N ARQ simplifies the process at the receiver site.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The </a:t>
            </a:r>
            <a:r>
              <a:rPr lang="en-US" sz="2400" dirty="0" smtClean="0">
                <a:latin typeface="Times New Roman" pitchFamily="18" charset="0"/>
                <a:cs typeface="Times New Roman" pitchFamily="18" charset="0"/>
              </a:rPr>
              <a:t>receiver keeps track of only one variable, and there is no need to buffer out-of-order frames; they are simply discarded.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However</a:t>
            </a:r>
            <a:r>
              <a:rPr lang="en-US" sz="2400" dirty="0" smtClean="0">
                <a:latin typeface="Times New Roman" pitchFamily="18" charset="0"/>
                <a:cs typeface="Times New Roman" pitchFamily="18" charset="0"/>
              </a:rPr>
              <a:t>, this protocol is very inefficient for a noisy link. </a:t>
            </a:r>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In </a:t>
            </a:r>
            <a:r>
              <a:rPr lang="en-US" sz="2400" dirty="0" smtClean="0">
                <a:latin typeface="Times New Roman" pitchFamily="18" charset="0"/>
                <a:cs typeface="Times New Roman" pitchFamily="18" charset="0"/>
              </a:rPr>
              <a:t>a noisy link a frame has a higher probability of damage, which means the resending of multiple frames</a:t>
            </a:r>
            <a:r>
              <a:rPr lang="en-US" sz="2400" dirty="0" smtClean="0">
                <a:latin typeface="Times New Roman" pitchFamily="18" charset="0"/>
                <a:cs typeface="Times New Roman" pitchFamily="18" charset="0"/>
              </a:rPr>
              <a:t>.</a:t>
            </a:r>
          </a:p>
          <a:p>
            <a:pPr algn="just"/>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This resending uses up the bandwidth and slows down the transmission.</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US" b="1" dirty="0" smtClean="0"/>
              <a:t>Design of Selective Repeat ARQ</a:t>
            </a:r>
            <a:endParaRPr lang="en-US" dirty="0" smtClean="0"/>
          </a:p>
          <a:p>
            <a:endParaRPr lang="en-US" dirty="0"/>
          </a:p>
        </p:txBody>
      </p:sp>
      <p:pic>
        <p:nvPicPr>
          <p:cNvPr id="4" name="Picture 3" descr="http://img.brainkart.com/extra/s1UuHaM.jpg"/>
          <p:cNvPicPr/>
          <p:nvPr/>
        </p:nvPicPr>
        <p:blipFill>
          <a:blip r:embed="rId2" cstate="print"/>
          <a:srcRect/>
          <a:stretch>
            <a:fillRect/>
          </a:stretch>
        </p:blipFill>
        <p:spPr bwMode="auto">
          <a:xfrm>
            <a:off x="609600" y="1524000"/>
            <a:ext cx="7620000" cy="438150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a:buNone/>
            </a:pPr>
            <a:r>
              <a:rPr lang="en-US" sz="2800" dirty="0" smtClean="0">
                <a:solidFill>
                  <a:srgbClr val="FF0000"/>
                </a:solidFill>
                <a:latin typeface="Times New Roman" pitchFamily="18" charset="0"/>
                <a:cs typeface="Times New Roman" pitchFamily="18" charset="0"/>
              </a:rPr>
              <a:t>High-level Data Link Control</a:t>
            </a:r>
          </a:p>
          <a:p>
            <a:pPr>
              <a:buNone/>
            </a:pPr>
            <a:endParaRPr lang="en-US" sz="2400" b="1" dirty="0" smtClean="0">
              <a:latin typeface="Times New Roman" pitchFamily="18" charset="0"/>
              <a:cs typeface="Times New Roman" pitchFamily="18" charset="0"/>
            </a:endParaRPr>
          </a:p>
          <a:p>
            <a:pPr algn="just">
              <a:lnSpc>
                <a:spcPct val="120000"/>
              </a:lnSpc>
            </a:pPr>
            <a:endParaRPr lang="en-US" sz="2400" dirty="0" smtClean="0">
              <a:latin typeface="Times New Roman" pitchFamily="18" charset="0"/>
              <a:cs typeface="Times New Roman" pitchFamily="18" charset="0"/>
            </a:endParaRPr>
          </a:p>
          <a:p>
            <a:pPr algn="just">
              <a:lnSpc>
                <a:spcPct val="120000"/>
              </a:lnSpc>
            </a:pPr>
            <a:endParaRPr lang="en-US" sz="2400" dirty="0" smtClean="0">
              <a:latin typeface="Times New Roman" pitchFamily="18" charset="0"/>
              <a:cs typeface="Times New Roman" pitchFamily="18" charset="0"/>
            </a:endParaRPr>
          </a:p>
          <a:p>
            <a:pPr algn="just">
              <a:lnSpc>
                <a:spcPct val="120000"/>
              </a:lnSpc>
            </a:pPr>
            <a:endParaRPr lang="en-US" sz="2400" dirty="0" smtClean="0">
              <a:latin typeface="Times New Roman" pitchFamily="18" charset="0"/>
              <a:cs typeface="Times New Roman" pitchFamily="18" charset="0"/>
            </a:endParaRPr>
          </a:p>
          <a:p>
            <a:pPr algn="just">
              <a:lnSpc>
                <a:spcPct val="120000"/>
              </a:lnSpc>
            </a:pPr>
            <a:endParaRPr lang="en-US" sz="2400" dirty="0" smtClean="0">
              <a:latin typeface="Times New Roman" pitchFamily="18" charset="0"/>
              <a:cs typeface="Times New Roman" pitchFamily="18" charset="0"/>
            </a:endParaRPr>
          </a:p>
          <a:p>
            <a:pPr algn="just">
              <a:lnSpc>
                <a:spcPct val="120000"/>
              </a:lnSpc>
            </a:pPr>
            <a:r>
              <a:rPr lang="en-US" sz="2400" dirty="0" smtClean="0">
                <a:latin typeface="Times New Roman" pitchFamily="18" charset="0"/>
                <a:cs typeface="Times New Roman" pitchFamily="18" charset="0"/>
              </a:rPr>
              <a:t>HDLC </a:t>
            </a:r>
            <a:r>
              <a:rPr lang="en-US" sz="2400" dirty="0" smtClean="0">
                <a:latin typeface="Times New Roman" pitchFamily="18" charset="0"/>
                <a:cs typeface="Times New Roman" pitchFamily="18" charset="0"/>
              </a:rPr>
              <a:t>is a bit - oriented protocol where each frame contains up to six fields. The structure varies according to the type of frame. The fields of a HDLC frame are −</a:t>
            </a:r>
          </a:p>
          <a:p>
            <a:pPr algn="just">
              <a:lnSpc>
                <a:spcPct val="120000"/>
              </a:lnSpc>
            </a:pPr>
            <a:r>
              <a:rPr lang="en-US" sz="2400" b="1" dirty="0" smtClean="0">
                <a:latin typeface="Times New Roman" pitchFamily="18" charset="0"/>
                <a:cs typeface="Times New Roman" pitchFamily="18" charset="0"/>
              </a:rPr>
              <a:t>Flag</a:t>
            </a:r>
            <a:r>
              <a:rPr lang="en-US" sz="2400" dirty="0" smtClean="0">
                <a:latin typeface="Times New Roman" pitchFamily="18" charset="0"/>
                <a:cs typeface="Times New Roman" pitchFamily="18" charset="0"/>
              </a:rPr>
              <a:t> − It is an 8-bit sequence that marks the beginning and the end of the frame. The bit pattern of the flag is 01111110.</a:t>
            </a:r>
          </a:p>
          <a:p>
            <a:endParaRPr lang="en-US" dirty="0"/>
          </a:p>
        </p:txBody>
      </p:sp>
      <p:pic>
        <p:nvPicPr>
          <p:cNvPr id="22530" name="Picture 2"/>
          <p:cNvPicPr>
            <a:picLocks noChangeAspect="1" noChangeArrowheads="1"/>
          </p:cNvPicPr>
          <p:nvPr/>
        </p:nvPicPr>
        <p:blipFill>
          <a:blip r:embed="rId2" cstate="print"/>
          <a:srcRect/>
          <a:stretch>
            <a:fillRect/>
          </a:stretch>
        </p:blipFill>
        <p:spPr bwMode="auto">
          <a:xfrm>
            <a:off x="533400" y="838200"/>
            <a:ext cx="8086725" cy="228600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fontScale="77500" lnSpcReduction="20000"/>
          </a:bodyPr>
          <a:lstStyle/>
          <a:p>
            <a:pPr algn="just">
              <a:lnSpc>
                <a:spcPct val="120000"/>
              </a:lnSpc>
            </a:pPr>
            <a:r>
              <a:rPr lang="en-US" sz="3100" b="1" dirty="0" smtClean="0">
                <a:latin typeface="Times New Roman" pitchFamily="18" charset="0"/>
                <a:cs typeface="Times New Roman" pitchFamily="18" charset="0"/>
              </a:rPr>
              <a:t>Address</a:t>
            </a:r>
            <a:r>
              <a:rPr lang="en-US" sz="3100" dirty="0" smtClean="0">
                <a:latin typeface="Times New Roman" pitchFamily="18" charset="0"/>
                <a:cs typeface="Times New Roman" pitchFamily="18" charset="0"/>
              </a:rPr>
              <a:t> − It contains the address of the receiver. If the frame is sent by the primary station, it contains the address(</a:t>
            </a:r>
            <a:r>
              <a:rPr lang="en-US" sz="3100" dirty="0" err="1" smtClean="0">
                <a:latin typeface="Times New Roman" pitchFamily="18" charset="0"/>
                <a:cs typeface="Times New Roman" pitchFamily="18" charset="0"/>
              </a:rPr>
              <a:t>es</a:t>
            </a:r>
            <a:r>
              <a:rPr lang="en-US" sz="3100" dirty="0" smtClean="0">
                <a:latin typeface="Times New Roman" pitchFamily="18" charset="0"/>
                <a:cs typeface="Times New Roman" pitchFamily="18" charset="0"/>
              </a:rPr>
              <a:t>) of the secondary station(s). If it is sent by the secondary station, it contains the address of the primary station. The address field may be from 1 byte to several bytes.</a:t>
            </a:r>
          </a:p>
          <a:p>
            <a:pPr algn="just">
              <a:lnSpc>
                <a:spcPct val="120000"/>
              </a:lnSpc>
            </a:pPr>
            <a:r>
              <a:rPr lang="en-US" sz="3100" b="1" dirty="0" smtClean="0">
                <a:latin typeface="Times New Roman" pitchFamily="18" charset="0"/>
                <a:cs typeface="Times New Roman" pitchFamily="18" charset="0"/>
              </a:rPr>
              <a:t>Control</a:t>
            </a:r>
            <a:r>
              <a:rPr lang="en-US" sz="3100" dirty="0" smtClean="0">
                <a:latin typeface="Times New Roman" pitchFamily="18" charset="0"/>
                <a:cs typeface="Times New Roman" pitchFamily="18" charset="0"/>
              </a:rPr>
              <a:t> − It is 1 or 2 bytes containing flow and error control information.</a:t>
            </a:r>
          </a:p>
          <a:p>
            <a:pPr algn="just">
              <a:lnSpc>
                <a:spcPct val="120000"/>
              </a:lnSpc>
            </a:pPr>
            <a:r>
              <a:rPr lang="en-US" sz="3100" b="1" dirty="0" smtClean="0">
                <a:latin typeface="Times New Roman" pitchFamily="18" charset="0"/>
                <a:cs typeface="Times New Roman" pitchFamily="18" charset="0"/>
              </a:rPr>
              <a:t>Payload</a:t>
            </a:r>
            <a:r>
              <a:rPr lang="en-US" sz="3100" dirty="0" smtClean="0">
                <a:latin typeface="Times New Roman" pitchFamily="18" charset="0"/>
                <a:cs typeface="Times New Roman" pitchFamily="18" charset="0"/>
              </a:rPr>
              <a:t> − This carries the data from the network layer. Its length may vary from one network to another.</a:t>
            </a:r>
          </a:p>
          <a:p>
            <a:pPr algn="just">
              <a:lnSpc>
                <a:spcPct val="120000"/>
              </a:lnSpc>
            </a:pPr>
            <a:r>
              <a:rPr lang="en-US" sz="3100" b="1" dirty="0" smtClean="0">
                <a:latin typeface="Times New Roman" pitchFamily="18" charset="0"/>
                <a:cs typeface="Times New Roman" pitchFamily="18" charset="0"/>
              </a:rPr>
              <a:t>FCS</a:t>
            </a:r>
            <a:r>
              <a:rPr lang="en-US" sz="3100" dirty="0" smtClean="0">
                <a:latin typeface="Times New Roman" pitchFamily="18" charset="0"/>
                <a:cs typeface="Times New Roman" pitchFamily="18" charset="0"/>
              </a:rPr>
              <a:t> − It is a 2 byte or 4 bytes frame check sequence for error detection. The standard code used is CRC (cyclic redundancy code)</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Autofit/>
          </a:bodyPr>
          <a:lstStyle/>
          <a:p>
            <a:r>
              <a:rPr lang="en-US" sz="2400" dirty="0" smtClean="0">
                <a:solidFill>
                  <a:srgbClr val="002060"/>
                </a:solidFill>
                <a:latin typeface="Times New Roman" pitchFamily="18" charset="0"/>
                <a:cs typeface="Times New Roman" pitchFamily="18" charset="0"/>
              </a:rPr>
              <a:t>Three classes of frames are used </a:t>
            </a:r>
            <a:r>
              <a:rPr lang="en-US" sz="2400" dirty="0" smtClean="0">
                <a:solidFill>
                  <a:srgbClr val="002060"/>
                </a:solidFill>
                <a:latin typeface="Times New Roman" pitchFamily="18" charset="0"/>
                <a:cs typeface="Times New Roman" pitchFamily="18" charset="0"/>
              </a:rPr>
              <a:t>– </a:t>
            </a:r>
          </a:p>
          <a:p>
            <a:pPr>
              <a:buNone/>
            </a:pP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Information frames (I-Frames) – Carry the actual data. Transport user data from the network layer. In addition, they can also include flow and error control information piggybacked on data </a:t>
            </a:r>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Supervisory frames (S-Frames) – Used for error and flow control. They contain, send and receive sequence numbers </a:t>
            </a:r>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Unnumbered frames (U-Frames) – Used for various miscellaneous purposes, including link management </a:t>
            </a:r>
            <a:endParaRPr lang="en-US" sz="24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TotalTime>
  <Words>842</Words>
  <Application>Microsoft Office PowerPoint</Application>
  <PresentationFormat>On-screen Show (4:3)</PresentationFormat>
  <Paragraphs>140</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CN </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Stop-and-Wait Automatic Repeat Request</vt:lpstr>
      <vt:lpstr>Slide 23</vt:lpstr>
      <vt:lpstr>Slide 24</vt:lpstr>
      <vt:lpstr>Slide 25</vt:lpstr>
      <vt:lpstr>Slide 26</vt:lpstr>
      <vt:lpstr>Slide 27</vt:lpstr>
      <vt:lpstr>Slide 28</vt:lpstr>
      <vt:lpstr>Slide 29</vt:lpstr>
      <vt:lpstr>Slide 30</vt:lpstr>
      <vt:lpstr>Slide 31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CN</dc:title>
  <dc:creator>CSE DEPT</dc:creator>
  <cp:lastModifiedBy>Windows User</cp:lastModifiedBy>
  <cp:revision>40</cp:revision>
  <dcterms:created xsi:type="dcterms:W3CDTF">2006-08-16T00:00:00Z</dcterms:created>
  <dcterms:modified xsi:type="dcterms:W3CDTF">2025-07-28T12:36:50Z</dcterms:modified>
</cp:coreProperties>
</file>